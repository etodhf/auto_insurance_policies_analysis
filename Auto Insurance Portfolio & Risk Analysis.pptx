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59" r:id="rId4"/>
    <p:sldId id="263" r:id="rId5"/>
    <p:sldId id="262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552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528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503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294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735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184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229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367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411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279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223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487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7E2F724-2FB3-4D1D-A730-739B8654C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circular pattern with dots and lines&#10;&#10;AI-generated content may be incorrect.">
            <a:extLst>
              <a:ext uri="{FF2B5EF4-FFF2-40B4-BE49-F238E27FC236}">
                <a16:creationId xmlns:a16="http://schemas.microsoft.com/office/drawing/2014/main" id="{1DEE4A94-9D23-992A-9898-20BE6002C46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b="6250"/>
          <a:stretch>
            <a:fillRect/>
          </a:stretch>
        </p:blipFill>
        <p:spPr>
          <a:xfrm>
            <a:off x="0" y="-3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7FBD1E5-2512-8F1D-D6D9-36A34E7525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69" y="978408"/>
            <a:ext cx="10445099" cy="2344896"/>
          </a:xfrm>
        </p:spPr>
        <p:txBody>
          <a:bodyPr anchor="t">
            <a:normAutofit/>
          </a:bodyPr>
          <a:lstStyle/>
          <a:p>
            <a:r>
              <a:rPr lang="en-GB" dirty="0"/>
              <a:t>Auto Insurance Portfolio &amp; Risk Analysis</a:t>
            </a:r>
            <a:endParaRPr lang="en-US" sz="60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091666-E91C-FA56-18AC-EE42848177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379" y="5768748"/>
            <a:ext cx="5764943" cy="581162"/>
          </a:xfrm>
        </p:spPr>
        <p:txBody>
          <a:bodyPr anchor="t">
            <a:normAutofit/>
          </a:bodyPr>
          <a:lstStyle/>
          <a:p>
            <a:r>
              <a:rPr lang="en-GB" sz="2400" dirty="0"/>
              <a:t>Presenter: Ebube | Data Analytics Project</a:t>
            </a:r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5726B98-8231-7472-6737-73B1805F861E}"/>
              </a:ext>
            </a:extLst>
          </p:cNvPr>
          <p:cNvSpPr txBox="1">
            <a:spLocks/>
          </p:cNvSpPr>
          <p:nvPr/>
        </p:nvSpPr>
        <p:spPr>
          <a:xfrm>
            <a:off x="498268" y="3323305"/>
            <a:ext cx="10464700" cy="5811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dirty="0"/>
              <a:t>Data-Driven Insights for Risk Optimization and Customer Segmentation</a:t>
            </a:r>
            <a:endParaRPr lang="en-US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26154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CF05C-EC52-5411-4756-A082DD97D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Executive Overview: High-Level Portfolio Performance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01CEA-A66E-C31B-FEF9-C0FDAD35C4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3582186"/>
            <a:ext cx="10574140" cy="2837164"/>
          </a:xfrm>
        </p:spPr>
        <p:txBody>
          <a:bodyPr>
            <a:normAutofit lnSpcReduction="10000"/>
          </a:bodyPr>
          <a:lstStyle/>
          <a:p>
            <a:r>
              <a:rPr lang="en-GB" b="1" dirty="0"/>
              <a:t>$1.90B Total Claims Paid across 37.54K active policyholders.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GB" b="1" dirty="0"/>
              <a:t>Average claim frequency sits at 0.51, with an overall portfolio Claim Likelihood Rate of 27.54%.</a:t>
            </a:r>
          </a:p>
          <a:p>
            <a:endParaRPr lang="en-US" dirty="0"/>
          </a:p>
          <a:p>
            <a:r>
              <a:rPr lang="en-GB" b="1" dirty="0"/>
              <a:t>Average severity per claim event stands at $98.04K.</a:t>
            </a:r>
          </a:p>
          <a:p>
            <a:endParaRPr lang="en-US" dirty="0"/>
          </a:p>
          <a:p>
            <a:r>
              <a:rPr lang="en-GB" b="1" dirty="0"/>
              <a:t>75.21% (28K) of policyholders fall into our high-value target segment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E07021-5119-0C38-1CA2-EACF5F07D1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49" b="69779"/>
          <a:stretch>
            <a:fillRect/>
          </a:stretch>
        </p:blipFill>
        <p:spPr>
          <a:xfrm>
            <a:off x="515112" y="2441448"/>
            <a:ext cx="11155679" cy="987552"/>
          </a:xfrm>
          <a:prstGeom prst="rect">
            <a:avLst/>
          </a:prstGeom>
          <a:ln w="57150">
            <a:solidFill>
              <a:schemeClr val="tx1">
                <a:lumMod val="85000"/>
                <a:lumOff val="1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82079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9F1FA-DBD2-91EB-16D0-71655F2F2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Customer Profile: Mature, Private-Vehicle Heavy Base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CAB50-E983-99CB-160E-A78B693A64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5791102" cy="3767328"/>
          </a:xfrm>
        </p:spPr>
        <p:txBody>
          <a:bodyPr>
            <a:normAutofit/>
          </a:bodyPr>
          <a:lstStyle/>
          <a:p>
            <a:r>
              <a:rPr lang="en-GB" b="1" dirty="0"/>
              <a:t>Age Core: Policyholders aged 41–60 (37.57%) and 60+ (30.53%) comprise over 68% of the customer base.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GB" b="1" dirty="0"/>
              <a:t>Marital &amp; Gender: Single (16K) and Married (12K) form the largest segments with a balanced 50/50 gender split.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GB" b="1" dirty="0"/>
              <a:t>Usage: Over 80% of vehicles are registered for Private rather than Commercial use.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962CFD-E372-5219-F775-CCE498B2B0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5640" y="2759527"/>
            <a:ext cx="5329287" cy="2881880"/>
          </a:xfrm>
          <a:prstGeom prst="rect">
            <a:avLst/>
          </a:prstGeom>
          <a:ln w="57150">
            <a:solidFill>
              <a:schemeClr val="tx1">
                <a:lumMod val="85000"/>
                <a:lumOff val="1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31063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9FEE3-3C9B-57F5-47CF-E149ADD89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Risk Assessment: Pinpointing High Severity Exposure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CA79C-7B80-1DF3-C718-7C9187DE7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5682947" cy="3767328"/>
          </a:xfrm>
        </p:spPr>
        <p:txBody>
          <a:bodyPr anchor="t">
            <a:normAutofit fontScale="92500" lnSpcReduction="10000"/>
          </a:bodyPr>
          <a:lstStyle/>
          <a:p>
            <a:r>
              <a:rPr lang="en-GB" b="1" dirty="0"/>
              <a:t>Income &amp; Education: High School educated policyholders in the $30k–$75k income bracket present the highest risk (28.2% likelihood, $104K severity).</a:t>
            </a:r>
            <a:endParaRPr lang="en-US" dirty="0"/>
          </a:p>
          <a:p>
            <a:pPr marL="0" indent="0">
              <a:buNone/>
            </a:pPr>
            <a:r>
              <a:rPr lang="en-GB" b="1" dirty="0"/>
              <a:t> </a:t>
            </a:r>
            <a:endParaRPr lang="en-US" dirty="0"/>
          </a:p>
          <a:p>
            <a:r>
              <a:rPr lang="en-GB" b="1" dirty="0"/>
              <a:t>Geographic Impact: Urban &amp; Highly Urban zones show higher claim probability (28.0%) vs. Rural (27.0%). 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GB" b="1" dirty="0"/>
              <a:t>Critical Risk Factor: Commercial vehicles driven by children experience severe claim spikes exceeding $110K per claim event.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0F34FC-2E92-AF67-B6B4-06D9329BF6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4155" y="2578608"/>
            <a:ext cx="5632997" cy="3063338"/>
          </a:xfrm>
          <a:prstGeom prst="rect">
            <a:avLst/>
          </a:prstGeom>
          <a:ln w="57150">
            <a:solidFill>
              <a:schemeClr val="tx1">
                <a:lumMod val="85000"/>
                <a:lumOff val="1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4904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CFEC9-340C-8C59-48E4-0B59083E0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Customer Target Segment: The 28K High Value Foundation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85729-AF80-32CD-936B-F6E14CEBCC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7" y="2578608"/>
            <a:ext cx="6973102" cy="3767328"/>
          </a:xfrm>
        </p:spPr>
        <p:txBody>
          <a:bodyPr anchor="ctr">
            <a:normAutofit/>
          </a:bodyPr>
          <a:lstStyle/>
          <a:p>
            <a:r>
              <a:rPr lang="en-GB" b="1" dirty="0"/>
              <a:t>Segment Definition: Household Income &gt; $75K with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≤ </a:t>
            </a:r>
            <a:r>
              <a:rPr lang="en-GB" b="1" dirty="0"/>
              <a:t>1 claim (28K policyholders).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GB" b="1" dirty="0"/>
              <a:t>Profile: Concentrated in ages 41–60+ (10.6K) holding Bachelor's degrees and driving vehicles aged 16+ years.</a:t>
            </a:r>
            <a:endParaRPr lang="en-US" dirty="0"/>
          </a:p>
          <a:p>
            <a:pPr marL="0" indent="0">
              <a:buNone/>
            </a:pPr>
            <a:r>
              <a:rPr lang="en-GB" b="1" dirty="0"/>
              <a:t>  </a:t>
            </a:r>
            <a:endParaRPr lang="en-US" dirty="0"/>
          </a:p>
          <a:p>
            <a:r>
              <a:rPr lang="en-GB" b="1" dirty="0"/>
              <a:t>Geographic Spread: Evenly distributed across all 5 coverage zones (~20% each), enabling broad regional marketing campaigns.</a:t>
            </a:r>
            <a:endParaRPr lang="en-US" dirty="0"/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4999DF4-64CD-F2A0-A671-B6BB443674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4309" y="2960015"/>
            <a:ext cx="4518187" cy="2436245"/>
          </a:xfrm>
          <a:prstGeom prst="rect">
            <a:avLst/>
          </a:prstGeom>
          <a:ln w="57150">
            <a:solidFill>
              <a:schemeClr val="tx1">
                <a:lumMod val="85000"/>
                <a:lumOff val="1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521724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A4AA1-3905-B53F-D34A-8798C5FE7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Action Plan: Optimizing Portfolio Profitability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C7715-7C48-6F93-3B2A-CCF4423B1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149311"/>
            <a:ext cx="6275518" cy="4196625"/>
          </a:xfrm>
        </p:spPr>
        <p:txBody>
          <a:bodyPr anchor="ctr">
            <a:normAutofit/>
          </a:bodyPr>
          <a:lstStyle/>
          <a:p>
            <a:r>
              <a:rPr lang="en-GB" b="1" dirty="0"/>
              <a:t>Pricing Policy: Apply a surcharge to Commercial policies with youth drivers to mitigate high claim severity.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GB" b="1" dirty="0"/>
              <a:t>Regional Rating: Adjust Urban base premiums upward by 2–3% to align with higher local claim likelihood.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GB" b="1" dirty="0"/>
              <a:t>Marketing Action: Direct retention budgets toward single/married high-income drivers operating private vehicles.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1389E5-BFCC-374D-1D41-375CDC4740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3616" y="2441448"/>
            <a:ext cx="4927176" cy="2672429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57136718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505</TotalTime>
  <Words>359</Words>
  <Application>Microsoft Office PowerPoint</Application>
  <PresentationFormat>Widescreen</PresentationFormat>
  <Paragraphs>35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Bierstadt</vt:lpstr>
      <vt:lpstr>Times New Roman</vt:lpstr>
      <vt:lpstr>GestaltVTI</vt:lpstr>
      <vt:lpstr>Auto Insurance Portfolio &amp; Risk Analysis</vt:lpstr>
      <vt:lpstr>Executive Overview: High-Level Portfolio Performance </vt:lpstr>
      <vt:lpstr>Customer Profile: Mature, Private-Vehicle Heavy Base </vt:lpstr>
      <vt:lpstr>Risk Assessment: Pinpointing High Severity Exposure </vt:lpstr>
      <vt:lpstr>Customer Target Segment: The 28K High Value Foundation </vt:lpstr>
      <vt:lpstr>Action Plan: Optimizing Portfolio Profitability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Eto _</dc:creator>
  <cp:lastModifiedBy>Eto _</cp:lastModifiedBy>
  <cp:revision>14</cp:revision>
  <dcterms:created xsi:type="dcterms:W3CDTF">2026-08-12T12:35:42Z</dcterms:created>
  <dcterms:modified xsi:type="dcterms:W3CDTF">2026-08-15T13:50:42Z</dcterms:modified>
</cp:coreProperties>
</file>